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Open: 'What does one loaded underwriter hour cost you — and what if first pass took 15 minutes?'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C-SUITE &amp; INVESTOR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8FAFC"/>
                </a:solidFill>
                <a:latin typeface="Calibri"/>
              </a:rPr>
              <a:t>Commercial underwriting
that pays for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46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Calibri"/>
              </a:rPr>
              <a:t>Enterprise AI underwriting workbench for carriers &amp; MGAs.
Property · D&amp;O · Workers' comp · Trade credit · E&amp;O · Key person.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This deck shows what the buyer saves (by quarter &amp; fiscal year) and how we charge.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Confidential · Planning model labeled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55664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B0F7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The business in 60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B2B enterprise SaaS — we sell software, not insurance.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39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Buyers pay because each bind-ready memo replaces hours of PDF hunting, re-key, and audit prep. Planning model: FY1 net ≈ $85,512 (439% ROI on Desk) for a 40-file/mo specialty desk.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12848"/>
            <a:ext cx="11155680" cy="987552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22576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8DEF"/>
                </a:solidFill>
                <a:latin typeface="Calibri"/>
              </a:rPr>
              <a:t>What we sell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96896"/>
            <a:ext cx="10424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Cloud workbench: broker package in → decision, quote worksheet, audit trail out. Licensed UW still signs.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328415"/>
            <a:ext cx="11155680" cy="987552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438143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8DEF"/>
                </a:solidFill>
                <a:latin typeface="Calibri"/>
              </a:rPr>
              <a:t>Who buys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712463"/>
            <a:ext cx="10424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Carriers, MGAs, program managers — 15 to 120+ commercial submissions per month per line desk.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43983"/>
            <a:ext cx="11155680" cy="987552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553711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How we charge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828031"/>
            <a:ext cx="10424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Monthly subscription + fee per memo (not a cut of premium). Pilot free; Desk from $799/mo.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559552"/>
            <a:ext cx="11155680" cy="987552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669280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8DEF"/>
                </a:solidFill>
                <a:latin typeface="Calibri"/>
              </a:rPr>
              <a:t>Why 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943600"/>
            <a:ext cx="10424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Messy specialty lines (D&amp;O, WC, trade credit) cannot be priced with a generic chatbot or one building formula.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55664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Confidential · Planning model labeled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55664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B0F7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Which box are we in?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We are B2B enterprise SaaS delivered as a full-stack web app. Not B2C. Not internal tooling. Revenue = subscription + usage; we never take premium risk.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8022"/>
                <a:gridCol w="1561795"/>
                <a:gridCol w="7585863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B0F7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B0F7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B0F7"/>
                          </a:solidFill>
                          <a:latin typeface="Calibri"/>
                        </a:rPr>
                        <a:t>Plain-English meaning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B2B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Primary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Software for carriers &amp; MGAs to underwrite faster and more defensibly.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Enterprise SaaS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Scale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Multi-org, SSO/VPC, Guidewire bind, SERFF rate books, examiner export.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Full-stack web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Shape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React UI + API + agent pipeline — how we ship, not who pays.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B2C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We do not sell policies to consumers.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55664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Confidential · Planning model labeled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455664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B0F7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The desk bleeds time before it makes a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ROI math starts here: 120-minute first pass × 40 files/mo × $175/hr loaded UW = $14,000/mo on first-pass labor alone — before rework, re-key, and exam packs.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5440680" cy="178308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084832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BBF24"/>
                </a:solidFill>
                <a:latin typeface="Calibri"/>
              </a:rPr>
              <a:t>120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70048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Baseline first-pass time per file (planning assumption)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440680" cy="178308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084832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BBF24"/>
                </a:solidFill>
                <a:latin typeface="Calibri"/>
              </a:rPr>
              <a:t>$175/hr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670048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Loaded UW cost (salary + benefits + overhead)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94760"/>
            <a:ext cx="5440680" cy="178308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4050792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BBF24"/>
                </a:solidFill>
                <a:latin typeface="Calibri"/>
              </a:rPr>
              <a:t>40 /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636008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Typical specialty MGA desk volume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94760"/>
            <a:ext cx="5440680" cy="178308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4050792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7171"/>
                </a:solidFill>
                <a:latin typeface="Calibri"/>
              </a:rPr>
              <a:t>$14,000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636008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Monthly first-pass labor at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Confidential · Planning model labeled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55664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B0F7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One pipeline — six live commercial 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Same journey for every line; different checklists and rating bases. D&amp;O uses policy limit — not building TIV. WC uses payroll + e-mod. Property uses COPE + schedule of values.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828800"/>
            <a:ext cx="1353312" cy="658368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993392"/>
            <a:ext cx="1243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DEF"/>
                </a:solidFill>
                <a:latin typeface="Calibri"/>
              </a:rPr>
              <a:t>Ingest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828800"/>
            <a:ext cx="1353312" cy="658368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83664" y="1993392"/>
            <a:ext cx="1243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DEF"/>
                </a:solidFill>
                <a:latin typeface="Calibri"/>
              </a:rPr>
              <a:t>Parse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828800"/>
            <a:ext cx="1353312" cy="658368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8416" y="1993392"/>
            <a:ext cx="1243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DEF"/>
                </a:solidFill>
                <a:latin typeface="Calibri"/>
              </a:rPr>
              <a:t>Verify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18304" y="1828800"/>
            <a:ext cx="1353312" cy="658368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993392"/>
            <a:ext cx="1243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DEF"/>
                </a:solidFill>
                <a:latin typeface="Calibri"/>
              </a:rPr>
              <a:t>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828800"/>
            <a:ext cx="1353312" cy="658368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993392"/>
            <a:ext cx="1243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DEF"/>
                </a:solidFill>
                <a:latin typeface="Calibri"/>
              </a:rPr>
              <a:t>Price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07808" y="1828800"/>
            <a:ext cx="1353312" cy="658368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2" y="1993392"/>
            <a:ext cx="1243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DEF"/>
                </a:solidFill>
                <a:latin typeface="Calibri"/>
              </a:rPr>
              <a:t>Decide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828800"/>
            <a:ext cx="1353312" cy="658368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07424" y="1993392"/>
            <a:ext cx="1243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Calibri"/>
              </a:rPr>
              <a:t>UW sign-off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97312" y="1828800"/>
            <a:ext cx="1353312" cy="658368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52176" y="1993392"/>
            <a:ext cx="1243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8DEF"/>
                </a:solidFill>
                <a:latin typeface="Calibri"/>
              </a:rPr>
              <a:t>Bind*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606040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Property &amp; 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2606040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COPE, SOV, fire scenarios, business income worksheet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264408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D&amp;O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326440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Governance, runway, Side A/B/C, claims-made continuity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922776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Workers' comp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922776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NCCI class codes, payroll, experience mod, OSHA logs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581144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Trade credit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4581144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AR aging, buyer concentration, credit 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239512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E&amp;O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5239512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Contract quality, scope creep, profession-specific apps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897879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Key person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5897879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Face amount, medical, succession plan, corp resolution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*Bind optional — shadow pilot keeps bind off until licensed UW cutover.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55664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Confidential · Planning model labeled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52760" y="6455664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B0F7"/>
                </a:solidFill>
                <a:latin typeface="Calibri"/>
              </a:rPr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Buyers pay when the data is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Desk-tier customers require three live connections: outside data (CLUE/NCCI), their filed rate book, and policy-system bind. Without those, we stay on Pilot — we do not fake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3566160" cy="196596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956816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Fail closed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67712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Missing oracle → REFER. No invented clean loss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828800"/>
            <a:ext cx="3566160" cy="196596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956816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Their rates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267712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SERFF / carrier filings on Desk+. Not our demo book.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828800"/>
            <a:ext cx="3566160" cy="196596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0728" y="1956816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No re-key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8" y="2267712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Full quote to Guidewire — or bind refused.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77639"/>
            <a:ext cx="3566160" cy="196596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105655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Line-correct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416551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Right exposure base per product (limit vs payroll vs TIV).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977639"/>
            <a:ext cx="3566160" cy="196596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8" y="4105655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Zero-token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416551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Rules &amp; rating before LLM. Works without API keys.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3977639"/>
            <a:ext cx="3566160" cy="196596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0728" y="4105655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Examiner-ready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8" y="4416551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Cited fields, encrypted audit, override analytics.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55664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Confidential · Planning model labeled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455664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B0F7"/>
                </a:solidFill>
                <a:latin typeface="Calibri"/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Aligned with how desks already think: files per month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 'memo' = one bind-ready underwriting package (decision + quote worksheet + audit). We do not take a % of premium. Oracle vendor fees pass through on Pilot/Desk; fair-use included on Book+.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795"/>
                <a:gridCol w="1338681"/>
                <a:gridCol w="1338681"/>
                <a:gridCol w="1561795"/>
                <a:gridCol w="5354728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B0F7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8BB0F7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B0F7"/>
                          </a:solidFill>
                          <a:latin typeface="Calibri"/>
                        </a:rPr>
                        <a:t>Memos incl.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8BB0F7"/>
                          </a:solidFill>
                          <a:latin typeface="Calibri"/>
                        </a:rPr>
                        <a:t>Overage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B0F7"/>
                          </a:solidFill>
                          <a:latin typeface="Calibri"/>
                        </a:rPr>
                        <a:t>Who it's for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Pilot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$95 / memo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Shadow pilot · bind off · prove ROI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Desk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$799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$55 / memo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One line desk · 15–40 files / mo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Book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$2,490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$38 / memo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Full book · 50–120 files / mo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Enterprise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from $6,500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Custom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$22–32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100+ files · VPC · SSO · multi-org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55664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Confidential · Planning model labeled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455664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B0F7"/>
                </a:solidFill>
                <a:latin typeface="Calibri"/>
              </a:rPr>
              <a:t>CUSTOMER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Year-one value by quarter (planning model)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Typical specialty MGA desk ramp: shadow → Desk → 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39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Net benefit = (minutes saved × files × $175/hr) − software bill. ROI % = net benefit ÷ software cost. Replace with pilot measurements after day 30.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212848"/>
          <a:ext cx="11155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340"/>
                <a:gridCol w="1784908"/>
                <a:gridCol w="892454"/>
                <a:gridCol w="1227124"/>
                <a:gridCol w="1561795"/>
                <a:gridCol w="1450238"/>
                <a:gridCol w="1561795"/>
                <a:gridCol w="2008026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BB0F7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BB0F7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8BB0F7"/>
                          </a:solidFill>
                          <a:latin typeface="Calibri"/>
                        </a:rPr>
                        <a:t>Files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8BB0F7"/>
                          </a:solidFill>
                          <a:latin typeface="Calibri"/>
                        </a:rPr>
                        <a:t>Time saved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8BB0F7"/>
                          </a:solidFill>
                          <a:latin typeface="Calibri"/>
                        </a:rPr>
                        <a:t>Labor value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8BB0F7"/>
                          </a:solidFill>
                          <a:latin typeface="Calibri"/>
                        </a:rPr>
                        <a:t>SW cost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8BB0F7"/>
                          </a:solidFill>
                          <a:latin typeface="Calibri"/>
                        </a:rPr>
                        <a:t>Net / mo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8BB0F7"/>
                          </a:solidFill>
                          <a:latin typeface="Calibri"/>
                        </a:rPr>
                        <a:t>ROI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Shadow pilot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30 min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$1,750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$1,400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4D399"/>
                          </a:solidFill>
                          <a:latin typeface="Calibri"/>
                        </a:rPr>
                        <a:t>400%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Desk live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60 min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$6,125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$1,349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$4,776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4D399"/>
                          </a:solidFill>
                          <a:latin typeface="Calibri"/>
                        </a:rPr>
                        <a:t>354%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Q3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Scale + STP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75 min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$9,844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$1,899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$7,945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4D399"/>
                          </a:solidFill>
                          <a:latin typeface="Calibri"/>
                        </a:rPr>
                        <a:t>418%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Q4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Book tier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90 min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$14,438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$2,490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$11,948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4D399"/>
                          </a:solidFill>
                          <a:latin typeface="Calibri"/>
                        </a:rPr>
                        <a:t>480%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11480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Baseline: 120-min first pass. 'Time saved' = baseline minus measured first-pass after platform. Planning model — not a guarantee.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Confidential · Planning model labeled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55664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B0F7"/>
                </a:solidFill>
                <a:latin typeface="Calibri"/>
              </a:rPr>
              <a:t>CUSTOMER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What each quarter means in practice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Use this slide when a CFO asks 'where does the 400% ROI come from?' Walk Q1→Q4 left to right.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956816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Calibri"/>
              </a:rPr>
              <a:t>Q1 · Shadow pilot · ROI 400%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67712"/>
            <a:ext cx="51206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Run 20 files in shadow. Bind stays off. UW compares AI memo to their decision. You learn override rate before you pay for live feeds.
Files: 20/mo · Saves 30 min/file · Net $1,400/mo after $350 software.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956816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Calibri"/>
              </a:rPr>
              <a:t>Q2 · Desk live · ROI 354%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267712"/>
            <a:ext cx="51206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Turn on Desk: live oracles + your SERFF rate book. First-pass time drops ~50%. This is the usual paid conversion point.
Files: 35/mo · Saves 60 min/file · Net $4,776/mo after $1,349 software.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6052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288536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Calibri"/>
              </a:rPr>
              <a:t>Q3 · Scale + STP · ROI 418%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599432"/>
            <a:ext cx="51206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More volume, more straight-through Accepts. Senior UW hours shift to exceptions only.
Files: 45/mo · Saves 75 min/file · Net $7,945/mo after $1,899 software.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16052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4288536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Calibri"/>
              </a:rPr>
              <a:t>Q4 · Book tier · ROI 480%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4599432"/>
            <a:ext cx="51206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Move to Book tier + Guidewire bind. Full payload, no re-key. Net benefit peaks.
Files: 55/mo · Saves 90 min/file · Net $11,948/mo after $2,490 software.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Confidential · Planning model labeled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55664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B0F7"/>
                </a:solidFill>
                <a:latin typeface="Calibri"/>
              </a:rPr>
              <a:t>CUSTOMER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Three-year view — cumulative profit to the buyer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As volume grows and cycle time drops, net profit compounds. FY2–3 assume Book tier and higher file counts — still one specialty desk, not enterprise-wide.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454"/>
                <a:gridCol w="1227124"/>
                <a:gridCol w="1115568"/>
                <a:gridCol w="2008022"/>
                <a:gridCol w="1784908"/>
                <a:gridCol w="1896465"/>
                <a:gridCol w="2231139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BB0F7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8BB0F7"/>
                          </a:solidFill>
                          <a:latin typeface="Calibri"/>
                        </a:rPr>
                        <a:t>Files / mo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8BB0F7"/>
                          </a:solidFill>
                          <a:latin typeface="Calibri"/>
                        </a:rPr>
                        <a:t>Cycle ↓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8BB0F7"/>
                          </a:solidFill>
                          <a:latin typeface="Calibri"/>
                        </a:rPr>
                        <a:t>Labor value (yr)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8BB0F7"/>
                          </a:solidFill>
                          <a:latin typeface="Calibri"/>
                        </a:rPr>
                        <a:t>SW cost (yr)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8BB0F7"/>
                          </a:solidFill>
                          <a:latin typeface="Calibri"/>
                        </a:rPr>
                        <a:t>Net profit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8BB0F7"/>
                          </a:solidFill>
                          <a:latin typeface="Calibri"/>
                        </a:rPr>
                        <a:t>ROI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FY1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$105,000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$19,488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$85,512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4D399"/>
                          </a:solidFill>
                          <a:latin typeface="Calibri"/>
                        </a:rPr>
                        <a:t>439%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FY2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$204,750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$29,880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$174,870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4D399"/>
                          </a:solidFill>
                          <a:latin typeface="Calibri"/>
                        </a:rPr>
                        <a:t>585%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FY3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79%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$299,250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$34,440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$264,810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4D399"/>
                          </a:solidFill>
                          <a:latin typeface="Calibri"/>
                        </a:rPr>
                        <a:t>769%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3621024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3785616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Calibri"/>
              </a:rPr>
              <a:t>439%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4242816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FY1 ROI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4517136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Return on software spend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621024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3785616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Calibri"/>
              </a:rPr>
              <a:t>$85,512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4242816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FY1 net 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4517136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Labor saved minus Desk bill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621024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3785616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Calibri"/>
              </a:rPr>
              <a:t>&lt; 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4242816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4517136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UW agrees with AI by day 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79" y="3621024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9407" y="3785616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Calibri"/>
              </a:rPr>
              <a:t>≤ 15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7" y="4242816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Cycle p95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7" y="4517136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First-pass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Confidential · Planning model labeled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6455664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B0F7"/>
                </a:solidFill>
                <a:latin typeface="Calibri"/>
              </a:rPr>
              <a:t>BEYOND LABOR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Book-quality gains (pilot KPI targets)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Labor ROI is the easy math. These metrics protect loss ratio and exam outcomes — measure them in every shadow pilot before you claim them in a renewal conversation.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681"/>
                <a:gridCol w="2008022"/>
                <a:gridCol w="7808977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B0F7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B0F7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B0F7"/>
                          </a:solidFill>
                          <a:latin typeface="Calibri"/>
                        </a:rPr>
                        <a:t>Why it matters to the C-suite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≥ 30%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Straight-through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Clean Accept path without unnecessary refer — frees senior UW for hard files.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≥ 90%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Catch rate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Missing docs &amp; cross-file conflicts flagged before bind.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&lt; 25%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Override rate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Licensed UW agrees with AI recommendation by day 30.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5–10%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Win rate (upside)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Faster quote turnaround on competitive submissions — measure in pilot.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1–3 pts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Loss ratio (upside)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Appetite gates + early decline over 12–24 mo — book-dependent.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55664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Confidential · Planning model labeled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455664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B0F7"/>
                </a:solidFill>
                <a:latin typeface="Calibr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Beachhead → expand on one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Start with specialty MGAs drowning in PDFs (15–120 files/mo). Expand to regional carriers. Same intake spine later adds mortgage &amp; lending for higher ACV per logo.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1155680" cy="1261872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56816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8DEF"/>
                </a:solidFill>
                <a:latin typeface="Calibri"/>
              </a:rPr>
              <a:t>Beachhead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6771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~2,400 US MGAs &amp; program managers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Property, WC, D&amp;O, credit 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46120"/>
            <a:ext cx="11155680" cy="1261872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374136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8DEF"/>
                </a:solidFill>
                <a:latin typeface="Calibri"/>
              </a:rPr>
              <a:t>Expand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68503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Regional carriers &amp; specialty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05079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Examiner pressure, Guidewire estates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663440"/>
            <a:ext cx="11155680" cy="1261872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791456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8DEF"/>
                </a:solidFill>
                <a:latin typeface="Calibri"/>
              </a:rPr>
              <a:t>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10235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Mortgage + lending 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46811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One contract, three verticals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Confidential · Planning model labeled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55664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B0F7"/>
                </a:solidFill>
                <a:latin typeface="Calibri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Land with shadow. Expand with bind.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Free Pilot proves ROI on their book with bind off. Desk is first revenue. Book adds Guidewire + portfolio. Enterprise is annual VPC contract.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1155680" cy="96012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56816"/>
            <a:ext cx="10241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1 · Shadow (free)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67712"/>
            <a:ext cx="10241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20–50 redacted files · 30 days · measure override &amp; cycle · bind 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44368"/>
            <a:ext cx="11155680" cy="96012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072384"/>
            <a:ext cx="10241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2 · Desk ($799/mo)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383280"/>
            <a:ext cx="10241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Live oracles + SERFF book · 25 memos · first paid conversion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059935"/>
            <a:ext cx="11155680" cy="96012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187951"/>
            <a:ext cx="10241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3 · Book ($2,490/mo)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498847"/>
            <a:ext cx="10241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Guidewire bind · 80 memos · onboarding included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175504"/>
            <a:ext cx="11155680" cy="96012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5303520"/>
            <a:ext cx="10241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4 · Enterprise ($6,500+)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614416"/>
            <a:ext cx="10241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VPC · SSO · multi-org · broker portal · annual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Confidential · Planning model labeled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55664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B0F7"/>
                </a:solidFill>
                <a:latin typeface="Calibri"/>
              </a:rPr>
              <a:t>COMPANY REVENUE (INVESTOR)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Our ARR plan — illustrative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Replace with live pipeline when fundraising. Revenue = recurring SaaS + one-time onboarding ($15–40K). Not a forecast guarantee.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681"/>
                <a:gridCol w="1561795"/>
                <a:gridCol w="2008022"/>
                <a:gridCol w="2454249"/>
                <a:gridCol w="3792933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BB0F7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8BB0F7"/>
                          </a:solidFill>
                          <a:latin typeface="Calibri"/>
                        </a:rPr>
                        <a:t>Customers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8BB0F7"/>
                          </a:solidFill>
                          <a:latin typeface="Calibri"/>
                        </a:rPr>
                        <a:t>Avg MRR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8BB0F7"/>
                          </a:solidFill>
                          <a:latin typeface="Calibri"/>
                        </a:rPr>
                        <a:t>ARR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8BB0F7"/>
                          </a:solidFill>
                          <a:latin typeface="Calibri"/>
                        </a:rPr>
                        <a:t>Gross margin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FY1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$2,200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$211,200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4D399"/>
                          </a:solidFill>
                          <a:latin typeface="Calibri"/>
                        </a:rPr>
                        <a:t>72%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FY2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$2,800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$739,200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4D399"/>
                          </a:solidFill>
                          <a:latin typeface="Calibri"/>
                        </a:rPr>
                        <a:t>78%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FY3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$3,400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E2E8F0"/>
                          </a:solidFill>
                          <a:latin typeface="Calibri"/>
                        </a:rPr>
                        <a:t>$1,958,400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34D399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371600" y="5109165"/>
            <a:ext cx="2194560" cy="157778"/>
          </a:xfrm>
          <a:prstGeom prst="roundRect">
            <a:avLst>
              <a:gd name="adj" fmla="val 6000"/>
            </a:avLst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816557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$211K ARR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30951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FY1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4714718"/>
            <a:ext cx="2194560" cy="552225"/>
          </a:xfrm>
          <a:prstGeom prst="roundRect">
            <a:avLst>
              <a:gd name="adj" fmla="val 6000"/>
            </a:avLst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422110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$739K ARR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5330951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FY2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803904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3511296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$1958K ARR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5330951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FY3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55664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Confidential · Planning model labeled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455664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B0F7"/>
                </a:solidFill>
                <a:latin typeface="Calibri"/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One Book customer at 80 memos / month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LTV:CAC assumes $18K blended CAC and 36-month retention at Book list price. Payback &lt; 6 months because ACV is high relative to cloud + token cost (zero-token architecture).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B8DEF"/>
                </a:solidFill>
                <a:latin typeface="Calibri"/>
              </a:rPr>
              <a:t>$2,490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MRR · Book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82880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1488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B8DEF"/>
                </a:solidFill>
                <a:latin typeface="Calibri"/>
              </a:rPr>
              <a:t>$29,880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743200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ACV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82880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1488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B8DEF"/>
                </a:solidFill>
                <a:latin typeface="Calibri"/>
              </a:rPr>
              <a:t>5.0x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743200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LTV : CAC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77639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97679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B8DEF"/>
                </a:solidFill>
                <a:latin typeface="Calibri"/>
              </a:rPr>
              <a:t>78%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92039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Gross margin at scale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977639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4297679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B8DEF"/>
                </a:solidFill>
                <a:latin typeface="Calibri"/>
              </a:rPr>
              <a:t>&lt; 6 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892039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CAC payback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3977639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4297679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B8DEF"/>
                </a:solidFill>
                <a:latin typeface="Calibri"/>
              </a:rPr>
              <a:t>36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892039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Retention assumption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55664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Confidential · Planning model labeled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455664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B0F7"/>
                </a:solidFill>
                <a:latin typeface="Calibri"/>
              </a:rPr>
              <a:t>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Hard to copy because trust and workflow lock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Generic LLM wrappers cannot pass an exam or price six different exposure bases correctly. PAS bind + override loop creates retention after go-live.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1.  Line-specific rating &amp; checklists — not one model for every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2.  Fail-closed posture — buyers leave vendors that fake oracle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66160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3.  Citation gates &amp; encrypted audit — examiner-grade, not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34840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4.  Guidewire / BriteCore payload — workflow lock-in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03520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5.  Override feedback — book learns from licensed UW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Confidential · Planning model labeled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455664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B0F7"/>
                </a:solidFill>
                <a:latin typeface="Calibri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Every pilot replaces projections with measured KPIs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Agree these success criteria in week 1. If override &gt; 25% or cycle &gt; 15 min p95 at day 30, we fix — not hand-wave.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1561795"/>
                <a:gridCol w="7362749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B0F7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B0F7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B0F7"/>
                          </a:solidFill>
                          <a:latin typeface="Calibri"/>
                        </a:rPr>
                        <a:t>What it tells the C-suite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Cycle time (p95)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≤ 15 min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Desk capacity unlocked — labor ROI is real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Override rate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&lt; 25%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AI recommendations match UW judgment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Bind after Accept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≥ 40%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Memo quality converts to bound premium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Catch rate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≥ 90%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Fewer bound-with-holes policies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ROI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Measured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(Labor saved − SW cost) ÷ SW cost — use their loaded UW rate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55664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Confidential · Planning model labeled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455664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B0F7"/>
                </a:solidFill>
                <a:latin typeface="Calibri"/>
              </a:rP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30 minutes. Your book. Shadow 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Buyer: 30-day shadow pilot · planning FY1 ROI 439%. Investor: swap illustrative ARR for pipeline deck.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1155680" cy="1078992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75104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8DEF"/>
                </a:solidFill>
                <a:latin typeface="Calibri"/>
              </a:rPr>
              <a:t>Buyer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975104"/>
            <a:ext cx="8412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Bring 3 messy commercial files. We measure cycle, override, and net $ on your loaded UW 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63240"/>
            <a:ext cx="11155680" cy="1078992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209544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8DEF"/>
                </a:solidFill>
                <a:latin typeface="Calibri"/>
              </a:rPr>
              <a:t>Investor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209544"/>
            <a:ext cx="8412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Seed for GTM: 2 AEs, 1 solutions engineer, SOC2 Type 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97680"/>
            <a:ext cx="11155680" cy="1078992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443984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8DEF"/>
                </a:solidFill>
                <a:latin typeface="Calibri"/>
              </a:rPr>
              <a:t>Either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443984"/>
            <a:ext cx="8412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Leave with a labeled ROI model — not a promise we cannot defend.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55664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Confidential · Planning model labeled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455664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B0F7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How every dollar in this deck is calculated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10515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Use this when finance pushes back. All inputs are labeled; change loaded UW rate or baseline minutes in the model.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8022"/>
                <a:gridCol w="4685385"/>
                <a:gridCol w="4462273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B0F7"/>
                          </a:solidFill>
                          <a:latin typeface="Calibri"/>
                        </a:rPr>
                        <a:t>Line item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B0F7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BB0F7"/>
                          </a:solidFill>
                          <a:latin typeface="Calibri"/>
                        </a:rPr>
                        <a:t>Example (Desk, 40 files/mo)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Labor value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min saved ÷ 60 × files × $175/hr × 12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75 min → $105,000/yr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Software cost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Monthly plan + overage × 12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$19,488/yr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Net profit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Labor value − software cost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$85,512/yr</a:t>
                      </a:r>
                    </a:p>
                  </a:txBody>
                  <a:tcPr anchor="ctr" marL="76200" marR="76200" marT="50800" marB="50800">
                    <a:solidFill>
                      <a:srgbClr val="18203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ROI %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Calibri"/>
                        </a:rPr>
                        <a:t>Net profit ÷ software cost × 100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439%</a:t>
                      </a:r>
                    </a:p>
                  </a:txBody>
                  <a:tcPr anchor="ctr" marL="76200" marR="76200" marT="50800" marB="50800">
                    <a:solidFill>
                      <a:srgbClr val="12182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55664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Confidential · Planning model labeled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455664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258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B8DEF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8308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Calibri"/>
              </a:rPr>
              <a:t>Your book. Your numbers.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834640"/>
            <a:ext cx="10881360" cy="2926080"/>
          </a:xfrm>
          <a:prstGeom prst="roundRect">
            <a:avLst>
              <a:gd name="adj" fmla="val 6000"/>
            </a:avLst>
          </a:prstGeom>
          <a:solidFill>
            <a:srgbClr val="1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Planning model recap
FY1 customer net: $85,512 (439% ROI on Desk)
Q4 net benefit: $11,948/mo
Company FY3 illustrative ARR: $1,958,400
Swap projections for pilot KPIs when available.
hello@ryterainc.com · ryterainc.com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686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Confidential · Planning model labeled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55664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